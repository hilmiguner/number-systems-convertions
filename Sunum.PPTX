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8956BDD5-7BC1-40FC-8368-9A9A8D873B7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78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mi Güner" initials="HG" lastIdx="2" clrIdx="0">
    <p:extLst>
      <p:ext uri="{19B8F6BF-5375-455C-9EA6-DF929625EA0E}">
        <p15:presenceInfo xmlns:p15="http://schemas.microsoft.com/office/powerpoint/2012/main" userId="159bdd4e1cefad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A3D913-153D-4841-A3A6-17E6A3D71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E288C37-7421-4495-8A58-543968D0E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5F1D119-1E23-44A2-9C81-78D5C668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2027FCD-93DC-4840-BFD0-02F5E08C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42463B2-03AE-42C3-BC55-8F9FEEDC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189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23F310-4B7E-4F40-9CD0-382AAD44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7BF05D-B211-4929-8BCE-31B27D995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D828C21-4C97-4E0B-AE52-A77F69E6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66A12FC-C43B-48A6-B0E8-2AA93507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9F8048-F2A7-4D68-8488-A237A0F0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0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601C61-04E6-446C-8841-7C922799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4450CE2-DC33-41F1-9A24-2063D5FD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3E89A09-19F4-4B51-BAC5-86072F68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27B1DC-AB05-4F25-A220-5B8F26C2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7A3634-D79A-4A83-B4F4-C5649A72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4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D61654-D3B4-4A9D-84F3-01B91DF8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838227-B413-4B14-A50D-DEEB4CAE9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2FE0C66-CC2A-4EE0-B2B5-CBEA59A2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1509362-739A-4706-BAC9-6E079AC9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0B9FA1A-F566-447A-9807-62ECC31B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4C37C7C-2740-4819-A06F-8765B6ED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952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0EADCE-1050-44B0-93CC-A9FE4699B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33C0A8C-6B03-48E4-9FB1-32D3C0355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01307F5-809A-425B-B13B-621CCF6E4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BE25D03-D9B3-4562-9C16-F5DCEFB57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1B82227-4429-4683-9252-DE1205078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B15FEAE-F0AA-4D3A-BC1E-75E4890C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4976932-0475-4798-943A-A2BB825B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1A843C4-08D9-492E-B06B-2FEF57D1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735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A05B33-DE39-42E2-AE85-CF945536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C4DF10A-FFB5-4A3B-A43C-B2F28A013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CA2F55C-C2F0-4824-9991-927A49A8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962ED80-B2A9-4A3C-8899-F73B3E2E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173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B108E0C-0387-4E6C-893B-B88333E4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CA142AD-62DF-453A-A245-FF23B5DB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EFE5872-0414-4CE6-A4A3-982186AA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003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3DEACB-5D48-42A3-A081-0C13E834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315AE4-D89A-455E-A89A-437809F51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9093EDF-8183-4D42-B9FC-1D7319B2B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77266A6-41FD-4A3A-B069-E2D4628E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15293A0-735E-4064-AE6C-BF918696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50885E9-D29D-4E29-82E5-90D8C664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11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49811B-5925-44FD-AFAA-03359033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71D37B1-0039-4A72-9687-8AC63834F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9784F0D-598C-4B6B-8FEB-76A606E7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4CD9688-9249-4FA1-B93D-C1013D83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45006C4-8156-4128-B504-FE2494DF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1A5F84-CD53-49CF-9517-709DEE99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4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87DE1E-FDD6-4500-BD95-636C3385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9FF96E4-B2BF-478A-A5FF-31290D399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9DA075F-F4EF-4F41-A269-B2F31D8B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F551BF-43F5-4C62-84C5-D6C7BA1C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9A23281-97AC-415E-B8D9-8B62E9A3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704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C80A1FB-EB69-407A-914E-075569BE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86FF087-1059-4C64-A398-B71EE0DEB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F1D176-45D2-4839-93B1-5D41516B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82E70F-D59A-424C-964F-B96F8EB0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C021CC-E29B-4C9E-96C1-8D33C5E9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459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DC2200E-AFAE-4897-A81F-6BDA524D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0BB07B1-643B-4DAD-A39F-B280B7DF6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03F87A9-CFF0-4C13-819B-6D2F70D3F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83B21-7B0B-4CA5-A514-836930EDA304}" type="datetimeFigureOut">
              <a:rPr lang="tr-TR" smtClean="0"/>
              <a:t>28.12.2021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5FF02E-8E6D-4398-8274-8345B3430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0196A9F-650C-4E7F-8384-589A0C464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35243-1D13-4EC9-803B-33DCEF5A71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539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1F7B832A-16A3-4CC8-B0A6-A5C6E80CF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429000"/>
            <a:ext cx="9144000" cy="3105043"/>
          </a:xfrm>
        </p:spPr>
        <p:txBody>
          <a:bodyPr/>
          <a:lstStyle/>
          <a:p>
            <a:r>
              <a:rPr lang="tr-TR" u="sng" dirty="0"/>
              <a:t>BIM 225 - GÖRSEL PROGRAMLAMA FİNAL PROJESİ</a:t>
            </a:r>
          </a:p>
          <a:p>
            <a:r>
              <a:rPr lang="tr-TR" dirty="0"/>
              <a:t>Konu : Sayısal Sistemlerin Dönüşümleri</a:t>
            </a:r>
          </a:p>
          <a:p>
            <a:r>
              <a:rPr lang="tr-TR" dirty="0"/>
              <a:t>Ad ve </a:t>
            </a:r>
            <a:r>
              <a:rPr lang="tr-TR" dirty="0" err="1"/>
              <a:t>Soyad</a:t>
            </a:r>
            <a:r>
              <a:rPr lang="tr-TR" dirty="0"/>
              <a:t> : HİLMİ GÜNER</a:t>
            </a:r>
          </a:p>
          <a:p>
            <a:r>
              <a:rPr lang="tr-TR" dirty="0"/>
              <a:t>Numara : 030720022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86745BE-8643-4071-8400-254DEB668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594" y="745725"/>
            <a:ext cx="4824809" cy="185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0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63E5D9-FDE1-4B86-BC52-71B929C6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PROJENİN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ABF453-17F1-42E8-91BC-4EC3FF407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tr-TR" dirty="0"/>
              <a:t>Çokça kullanılan «DECIMAL», «BINARY», «OCTAL» ve «HEXADECIMAL» sayı sistemlerinin pratik bir şekilde birbiri üzerindeki dönüşümlerini gerçekleştirmek.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787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5440E5A4-FF8B-485F-B985-29298A85E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154" y="2052175"/>
            <a:ext cx="7907692" cy="362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 (</a:t>
            </a:r>
            <a:r>
              <a:rPr lang="tr-TR" dirty="0" err="1"/>
              <a:t>JLabel</a:t>
            </a:r>
            <a:r>
              <a:rPr lang="tr-TR" dirty="0"/>
              <a:t>)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5440E5A4-FF8B-485F-B985-29298A85E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950" y="2069440"/>
            <a:ext cx="6286100" cy="2885243"/>
          </a:xfrm>
          <a:prstGeom prst="rect">
            <a:avLst/>
          </a:prstGeom>
        </p:spPr>
      </p:pic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585B4891-76FF-4E1E-AF2C-F424BC08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486"/>
            <a:ext cx="5615866" cy="493990"/>
          </a:xfrm>
        </p:spPr>
        <p:txBody>
          <a:bodyPr/>
          <a:lstStyle/>
          <a:p>
            <a:r>
              <a:rPr lang="tr-TR" dirty="0"/>
              <a:t>Projede 3 adet </a:t>
            </a:r>
            <a:r>
              <a:rPr lang="tr-TR" dirty="0" err="1"/>
              <a:t>JLabel</a:t>
            </a:r>
            <a:r>
              <a:rPr lang="tr-TR" dirty="0"/>
              <a:t> kullanılmıştır.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3A295CE-8C25-45CB-A532-2F5EEF100AB5}"/>
              </a:ext>
            </a:extLst>
          </p:cNvPr>
          <p:cNvSpPr/>
          <p:nvPr/>
        </p:nvSpPr>
        <p:spPr>
          <a:xfrm>
            <a:off x="2952950" y="2660373"/>
            <a:ext cx="731283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4411B07-311A-4BDC-A68D-B9609F826D07}"/>
              </a:ext>
            </a:extLst>
          </p:cNvPr>
          <p:cNvSpPr/>
          <p:nvPr/>
        </p:nvSpPr>
        <p:spPr>
          <a:xfrm>
            <a:off x="6228796" y="2642616"/>
            <a:ext cx="518958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F560152-647A-4D56-82A7-BADF18482400}"/>
              </a:ext>
            </a:extLst>
          </p:cNvPr>
          <p:cNvSpPr/>
          <p:nvPr/>
        </p:nvSpPr>
        <p:spPr>
          <a:xfrm>
            <a:off x="2952950" y="4582158"/>
            <a:ext cx="6286100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FB9ADC5-E3B6-439D-AFF9-F72DE7C134D7}"/>
              </a:ext>
            </a:extLst>
          </p:cNvPr>
          <p:cNvSpPr txBox="1"/>
          <p:nvPr/>
        </p:nvSpPr>
        <p:spPr>
          <a:xfrm>
            <a:off x="292963" y="2870123"/>
            <a:ext cx="2422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text</a:t>
            </a:r>
            <a:r>
              <a:rPr lang="tr-TR" dirty="0"/>
              <a:t> değeri «</a:t>
            </a:r>
            <a:r>
              <a:rPr lang="tr-TR" dirty="0" err="1"/>
              <a:t>From</a:t>
            </a:r>
            <a:r>
              <a:rPr lang="tr-TR" dirty="0"/>
              <a:t>:»</a:t>
            </a:r>
          </a:p>
          <a:p>
            <a:r>
              <a:rPr lang="tr-TR" dirty="0"/>
              <a:t>olan ve amacı dönüşüm işleminde hangi sayısal sisteminin dönüşüme uğrayacağını belirten bileşeni göstermek.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AD30C5-BB4E-464C-AAC6-3E9B9FAC38A3}"/>
              </a:ext>
            </a:extLst>
          </p:cNvPr>
          <p:cNvSpPr/>
          <p:nvPr/>
        </p:nvSpPr>
        <p:spPr>
          <a:xfrm>
            <a:off x="292963" y="2870123"/>
            <a:ext cx="2422879" cy="17543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2E615C6-2428-4ACC-9D57-0C5CCF0127E4}"/>
              </a:ext>
            </a:extLst>
          </p:cNvPr>
          <p:cNvSpPr txBox="1"/>
          <p:nvPr/>
        </p:nvSpPr>
        <p:spPr>
          <a:xfrm>
            <a:off x="9476158" y="2870123"/>
            <a:ext cx="2422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text</a:t>
            </a:r>
            <a:r>
              <a:rPr lang="tr-TR" dirty="0"/>
              <a:t> değeri «</a:t>
            </a:r>
            <a:r>
              <a:rPr lang="tr-TR" dirty="0" err="1"/>
              <a:t>To</a:t>
            </a:r>
            <a:r>
              <a:rPr lang="tr-TR" dirty="0"/>
              <a:t>:»</a:t>
            </a:r>
          </a:p>
          <a:p>
            <a:r>
              <a:rPr lang="tr-TR" dirty="0"/>
              <a:t>olan ve amacı dönüşüm işleminde hangi sayısal sisteme dönüşüm yapılacağını belirten bileşeni göstermek.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529184E-7A4C-4297-834D-6E452CC5D54C}"/>
              </a:ext>
            </a:extLst>
          </p:cNvPr>
          <p:cNvSpPr/>
          <p:nvPr/>
        </p:nvSpPr>
        <p:spPr>
          <a:xfrm>
            <a:off x="9476158" y="2870122"/>
            <a:ext cx="2422879" cy="17120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34F8E79B-9609-4EAB-8E38-E4CB3183547B}"/>
              </a:ext>
            </a:extLst>
          </p:cNvPr>
          <p:cNvSpPr txBox="1"/>
          <p:nvPr/>
        </p:nvSpPr>
        <p:spPr>
          <a:xfrm>
            <a:off x="2952950" y="5640223"/>
            <a:ext cx="628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text</a:t>
            </a:r>
            <a:r>
              <a:rPr lang="tr-TR" dirty="0"/>
              <a:t> değeri «» olan ve amacı kullanıcı tarafından girilen değer tam sayı değil ise daha sonradan </a:t>
            </a:r>
            <a:r>
              <a:rPr lang="tr-TR" dirty="0" err="1"/>
              <a:t>text</a:t>
            </a:r>
            <a:r>
              <a:rPr lang="tr-TR" dirty="0"/>
              <a:t> değeri değişerek kullanıcıyı bilgilendirmek.</a:t>
            </a: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974F925C-B945-448E-8011-49DB735CC18A}"/>
              </a:ext>
            </a:extLst>
          </p:cNvPr>
          <p:cNvSpPr/>
          <p:nvPr/>
        </p:nvSpPr>
        <p:spPr>
          <a:xfrm>
            <a:off x="2952950" y="5640223"/>
            <a:ext cx="6286100" cy="923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9E90740E-A14B-471A-8510-99207F55464E}"/>
              </a:ext>
            </a:extLst>
          </p:cNvPr>
          <p:cNvCxnSpPr>
            <a:stCxn id="4" idx="1"/>
            <a:endCxn id="17" idx="3"/>
          </p:cNvCxnSpPr>
          <p:nvPr/>
        </p:nvCxnSpPr>
        <p:spPr>
          <a:xfrm flipH="1">
            <a:off x="2715842" y="2829049"/>
            <a:ext cx="237108" cy="9182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>
            <a:extLst>
              <a:ext uri="{FF2B5EF4-FFF2-40B4-BE49-F238E27FC236}">
                <a16:creationId xmlns:a16="http://schemas.microsoft.com/office/drawing/2014/main" id="{45A36B02-C7A8-4C95-943E-459406C81C05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6096000" y="4954683"/>
            <a:ext cx="0" cy="6855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8789AF44-58AE-4A5E-9C63-9E93C51C8925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733158" y="2766798"/>
            <a:ext cx="2743000" cy="9593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96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Resim 22">
            <a:extLst>
              <a:ext uri="{FF2B5EF4-FFF2-40B4-BE49-F238E27FC236}">
                <a16:creationId xmlns:a16="http://schemas.microsoft.com/office/drawing/2014/main" id="{3B74270C-032E-4A32-8CFB-172027832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61" y="2673122"/>
            <a:ext cx="6299078" cy="2885242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 (</a:t>
            </a:r>
            <a:r>
              <a:rPr lang="tr-TR" dirty="0" err="1"/>
              <a:t>JComboBox</a:t>
            </a:r>
            <a:r>
              <a:rPr lang="tr-TR" dirty="0"/>
              <a:t>)</a:t>
            </a: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585B4891-76FF-4E1E-AF2C-F424BC08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3485"/>
            <a:ext cx="11067327" cy="2606875"/>
          </a:xfrm>
        </p:spPr>
        <p:txBody>
          <a:bodyPr>
            <a:normAutofit/>
          </a:bodyPr>
          <a:lstStyle/>
          <a:p>
            <a:r>
              <a:rPr lang="tr-TR" dirty="0"/>
              <a:t>Projede 2 adet </a:t>
            </a:r>
            <a:r>
              <a:rPr lang="tr-TR" dirty="0" err="1"/>
              <a:t>JComboBox</a:t>
            </a:r>
            <a:r>
              <a:rPr lang="tr-TR" dirty="0"/>
              <a:t> kullanılmıştır. İki </a:t>
            </a:r>
            <a:r>
              <a:rPr lang="tr-TR" dirty="0" err="1"/>
              <a:t>JComboBox</a:t>
            </a:r>
            <a:r>
              <a:rPr lang="tr-TR" dirty="0"/>
              <a:t> 4 adet aynı elemana sahiptir.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3A295CE-8C25-45CB-A532-2F5EEF100AB5}"/>
              </a:ext>
            </a:extLst>
          </p:cNvPr>
          <p:cNvSpPr/>
          <p:nvPr/>
        </p:nvSpPr>
        <p:spPr>
          <a:xfrm>
            <a:off x="3731012" y="3246298"/>
            <a:ext cx="2121762" cy="13257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4411B07-311A-4BDC-A68D-B9609F826D07}"/>
              </a:ext>
            </a:extLst>
          </p:cNvPr>
          <p:cNvSpPr/>
          <p:nvPr/>
        </p:nvSpPr>
        <p:spPr>
          <a:xfrm>
            <a:off x="6882583" y="3246298"/>
            <a:ext cx="2237172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FB9ADC5-E3B6-439D-AFF9-F72DE7C134D7}"/>
              </a:ext>
            </a:extLst>
          </p:cNvPr>
          <p:cNvSpPr txBox="1"/>
          <p:nvPr/>
        </p:nvSpPr>
        <p:spPr>
          <a:xfrm>
            <a:off x="286474" y="3473805"/>
            <a:ext cx="24228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Elemanları «</a:t>
            </a:r>
            <a:r>
              <a:rPr lang="tr-TR" dirty="0" err="1"/>
              <a:t>Decimal</a:t>
            </a:r>
            <a:r>
              <a:rPr lang="tr-TR" dirty="0"/>
              <a:t>», «</a:t>
            </a:r>
            <a:r>
              <a:rPr lang="tr-TR" dirty="0" err="1"/>
              <a:t>Binary</a:t>
            </a:r>
            <a:r>
              <a:rPr lang="tr-TR" dirty="0"/>
              <a:t>», «</a:t>
            </a:r>
            <a:r>
              <a:rPr lang="tr-TR" dirty="0" err="1"/>
              <a:t>Octal</a:t>
            </a:r>
            <a:r>
              <a:rPr lang="tr-TR" dirty="0"/>
              <a:t>» ve «</a:t>
            </a:r>
            <a:r>
              <a:rPr lang="tr-TR" dirty="0" err="1"/>
              <a:t>Hexadecimal</a:t>
            </a:r>
            <a:r>
              <a:rPr lang="tr-TR" dirty="0"/>
              <a:t>» olan bir </a:t>
            </a:r>
            <a:r>
              <a:rPr lang="tr-TR" dirty="0" err="1"/>
              <a:t>JComboBox</a:t>
            </a:r>
            <a:r>
              <a:rPr lang="tr-TR" dirty="0"/>
              <a:t>. Amacı hangi sayısal sistemin dönüşüme uğrayacağını belirlemek.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AD30C5-BB4E-464C-AAC6-3E9B9FAC38A3}"/>
              </a:ext>
            </a:extLst>
          </p:cNvPr>
          <p:cNvSpPr/>
          <p:nvPr/>
        </p:nvSpPr>
        <p:spPr>
          <a:xfrm>
            <a:off x="286474" y="3473805"/>
            <a:ext cx="2422879" cy="20313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2E615C6-2428-4ACC-9D57-0C5CCF0127E4}"/>
              </a:ext>
            </a:extLst>
          </p:cNvPr>
          <p:cNvSpPr txBox="1"/>
          <p:nvPr/>
        </p:nvSpPr>
        <p:spPr>
          <a:xfrm>
            <a:off x="9469669" y="3473805"/>
            <a:ext cx="24228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Elemanları «</a:t>
            </a:r>
            <a:r>
              <a:rPr lang="tr-TR" dirty="0" err="1"/>
              <a:t>Decimal</a:t>
            </a:r>
            <a:r>
              <a:rPr lang="tr-TR" dirty="0"/>
              <a:t>», «</a:t>
            </a:r>
            <a:r>
              <a:rPr lang="tr-TR" dirty="0" err="1"/>
              <a:t>Binary</a:t>
            </a:r>
            <a:r>
              <a:rPr lang="tr-TR" dirty="0"/>
              <a:t>», «</a:t>
            </a:r>
            <a:r>
              <a:rPr lang="tr-TR" dirty="0" err="1"/>
              <a:t>Octal</a:t>
            </a:r>
            <a:r>
              <a:rPr lang="tr-TR" dirty="0"/>
              <a:t>» ve «</a:t>
            </a:r>
            <a:r>
              <a:rPr lang="tr-TR" dirty="0" err="1"/>
              <a:t>Hexadecimal</a:t>
            </a:r>
            <a:r>
              <a:rPr lang="tr-TR" dirty="0"/>
              <a:t>» olan bir </a:t>
            </a:r>
            <a:r>
              <a:rPr lang="tr-TR" dirty="0" err="1"/>
              <a:t>JComboBox</a:t>
            </a:r>
            <a:r>
              <a:rPr lang="tr-TR" dirty="0"/>
              <a:t>. Amacı hangi sayısal sisteme dönüşüm yapılacağını belirlemek.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529184E-7A4C-4297-834D-6E452CC5D54C}"/>
              </a:ext>
            </a:extLst>
          </p:cNvPr>
          <p:cNvSpPr/>
          <p:nvPr/>
        </p:nvSpPr>
        <p:spPr>
          <a:xfrm>
            <a:off x="9469669" y="3473805"/>
            <a:ext cx="2422879" cy="20313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9E90740E-A14B-471A-8510-99207F55464E}"/>
              </a:ext>
            </a:extLst>
          </p:cNvPr>
          <p:cNvCxnSpPr>
            <a:cxnSpLocks/>
            <a:stCxn id="4" idx="1"/>
            <a:endCxn id="17" idx="3"/>
          </p:cNvCxnSpPr>
          <p:nvPr/>
        </p:nvCxnSpPr>
        <p:spPr>
          <a:xfrm flipH="1">
            <a:off x="2709353" y="3909149"/>
            <a:ext cx="1021659" cy="5803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8789AF44-58AE-4A5E-9C63-9E93C51C8925}"/>
              </a:ext>
            </a:extLst>
          </p:cNvPr>
          <p:cNvCxnSpPr>
            <a:cxnSpLocks/>
            <a:stCxn id="8" idx="2"/>
            <a:endCxn id="20" idx="1"/>
          </p:cNvCxnSpPr>
          <p:nvPr/>
        </p:nvCxnSpPr>
        <p:spPr>
          <a:xfrm>
            <a:off x="8001169" y="3583649"/>
            <a:ext cx="1468500" cy="9058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07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6620555A-3C17-485F-8ACB-67FDC49D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812" y="2829048"/>
            <a:ext cx="6286100" cy="2885243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 (</a:t>
            </a:r>
            <a:r>
              <a:rPr lang="tr-TR" dirty="0" err="1"/>
              <a:t>JTextField</a:t>
            </a:r>
            <a:r>
              <a:rPr lang="tr-TR" dirty="0"/>
              <a:t>)</a:t>
            </a: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585B4891-76FF-4E1E-AF2C-F424BC08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3485"/>
            <a:ext cx="11067327" cy="954657"/>
          </a:xfrm>
        </p:spPr>
        <p:txBody>
          <a:bodyPr>
            <a:normAutofit/>
          </a:bodyPr>
          <a:lstStyle/>
          <a:p>
            <a:r>
              <a:rPr lang="tr-TR" dirty="0"/>
              <a:t>Projede 2 adet </a:t>
            </a:r>
            <a:r>
              <a:rPr lang="tr-TR" dirty="0" err="1"/>
              <a:t>JTextField</a:t>
            </a:r>
            <a:r>
              <a:rPr lang="tr-TR" dirty="0"/>
              <a:t> kullanılmıştır. 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3A295CE-8C25-45CB-A532-2F5EEF100AB5}"/>
              </a:ext>
            </a:extLst>
          </p:cNvPr>
          <p:cNvSpPr/>
          <p:nvPr/>
        </p:nvSpPr>
        <p:spPr>
          <a:xfrm>
            <a:off x="3364637" y="4117021"/>
            <a:ext cx="2731363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4411B07-311A-4BDC-A68D-B9609F826D07}"/>
              </a:ext>
            </a:extLst>
          </p:cNvPr>
          <p:cNvSpPr/>
          <p:nvPr/>
        </p:nvSpPr>
        <p:spPr>
          <a:xfrm>
            <a:off x="6615458" y="4117021"/>
            <a:ext cx="2794871" cy="3373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FB9ADC5-E3B6-439D-AFF9-F72DE7C134D7}"/>
              </a:ext>
            </a:extLst>
          </p:cNvPr>
          <p:cNvSpPr txBox="1"/>
          <p:nvPr/>
        </p:nvSpPr>
        <p:spPr>
          <a:xfrm>
            <a:off x="286474" y="4161826"/>
            <a:ext cx="24228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Editable</a:t>
            </a:r>
            <a:r>
              <a:rPr lang="tr-TR" dirty="0"/>
              <a:t> değeri </a:t>
            </a:r>
            <a:r>
              <a:rPr lang="tr-TR" dirty="0" err="1"/>
              <a:t>true</a:t>
            </a:r>
            <a:r>
              <a:rPr lang="tr-TR" dirty="0"/>
              <a:t> olan ve amacı, kullanıcının dönüşüme uğrayacak sayısal değeri programa dahil etmek.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AD30C5-BB4E-464C-AAC6-3E9B9FAC38A3}"/>
              </a:ext>
            </a:extLst>
          </p:cNvPr>
          <p:cNvSpPr/>
          <p:nvPr/>
        </p:nvSpPr>
        <p:spPr>
          <a:xfrm>
            <a:off x="286474" y="4161826"/>
            <a:ext cx="2422879" cy="1477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2E615C6-2428-4ACC-9D57-0C5CCF0127E4}"/>
              </a:ext>
            </a:extLst>
          </p:cNvPr>
          <p:cNvSpPr txBox="1"/>
          <p:nvPr/>
        </p:nvSpPr>
        <p:spPr>
          <a:xfrm>
            <a:off x="9866280" y="4236963"/>
            <a:ext cx="2039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Editable</a:t>
            </a:r>
            <a:r>
              <a:rPr lang="tr-TR" dirty="0"/>
              <a:t> değeri </a:t>
            </a:r>
            <a:r>
              <a:rPr lang="tr-TR" dirty="0" err="1"/>
              <a:t>false</a:t>
            </a:r>
            <a:r>
              <a:rPr lang="tr-TR" dirty="0"/>
              <a:t> olan ve amacı, kullanıcıyı dönüşümden çıkan sonuç ile bilgilendirmek.</a:t>
            </a: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529184E-7A4C-4297-834D-6E452CC5D54C}"/>
              </a:ext>
            </a:extLst>
          </p:cNvPr>
          <p:cNvSpPr/>
          <p:nvPr/>
        </p:nvSpPr>
        <p:spPr>
          <a:xfrm>
            <a:off x="9866280" y="4236963"/>
            <a:ext cx="2039246" cy="17543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9E90740E-A14B-471A-8510-99207F55464E}"/>
              </a:ext>
            </a:extLst>
          </p:cNvPr>
          <p:cNvCxnSpPr>
            <a:cxnSpLocks/>
            <a:stCxn id="4" idx="2"/>
            <a:endCxn id="17" idx="3"/>
          </p:cNvCxnSpPr>
          <p:nvPr/>
        </p:nvCxnSpPr>
        <p:spPr>
          <a:xfrm flipH="1">
            <a:off x="2709353" y="4454372"/>
            <a:ext cx="2020966" cy="4461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Ok Bağlayıcısı 25">
            <a:extLst>
              <a:ext uri="{FF2B5EF4-FFF2-40B4-BE49-F238E27FC236}">
                <a16:creationId xmlns:a16="http://schemas.microsoft.com/office/drawing/2014/main" id="{8789AF44-58AE-4A5E-9C63-9E93C51C8925}"/>
              </a:ext>
            </a:extLst>
          </p:cNvPr>
          <p:cNvCxnSpPr>
            <a:cxnSpLocks/>
            <a:stCxn id="8" idx="2"/>
            <a:endCxn id="20" idx="1"/>
          </p:cNvCxnSpPr>
          <p:nvPr/>
        </p:nvCxnSpPr>
        <p:spPr>
          <a:xfrm>
            <a:off x="8012894" y="4454372"/>
            <a:ext cx="1853386" cy="6597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5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6620555A-3C17-485F-8ACB-67FDC49D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812" y="2044036"/>
            <a:ext cx="6286100" cy="2885243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 (</a:t>
            </a:r>
            <a:r>
              <a:rPr lang="tr-TR" dirty="0" err="1"/>
              <a:t>JButton</a:t>
            </a:r>
            <a:r>
              <a:rPr lang="tr-TR" dirty="0"/>
              <a:t>)</a:t>
            </a: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585B4891-76FF-4E1E-AF2C-F424BC08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3485"/>
            <a:ext cx="11067327" cy="954657"/>
          </a:xfrm>
        </p:spPr>
        <p:txBody>
          <a:bodyPr>
            <a:normAutofit/>
          </a:bodyPr>
          <a:lstStyle/>
          <a:p>
            <a:r>
              <a:rPr lang="tr-TR" dirty="0"/>
              <a:t>Projede 1 adet </a:t>
            </a:r>
            <a:r>
              <a:rPr lang="tr-TR" dirty="0" err="1"/>
              <a:t>JButton</a:t>
            </a:r>
            <a:r>
              <a:rPr lang="tr-TR" dirty="0"/>
              <a:t> kullanılmıştır. 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3A295CE-8C25-45CB-A532-2F5EEF100AB5}"/>
              </a:ext>
            </a:extLst>
          </p:cNvPr>
          <p:cNvSpPr/>
          <p:nvPr/>
        </p:nvSpPr>
        <p:spPr>
          <a:xfrm>
            <a:off x="5417511" y="3911604"/>
            <a:ext cx="1855433" cy="5060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FB9ADC5-E3B6-439D-AFF9-F72DE7C134D7}"/>
              </a:ext>
            </a:extLst>
          </p:cNvPr>
          <p:cNvSpPr txBox="1"/>
          <p:nvPr/>
        </p:nvSpPr>
        <p:spPr>
          <a:xfrm>
            <a:off x="437395" y="3913616"/>
            <a:ext cx="22396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Tuşa basıldıktan sonra dönüşümleri gerçekleştiren fonksiyonu çalıştırır ve dönüşüm sonucunu 2. </a:t>
            </a:r>
            <a:r>
              <a:rPr lang="tr-TR" dirty="0" err="1"/>
              <a:t>JTextField</a:t>
            </a:r>
            <a:r>
              <a:rPr lang="tr-TR" dirty="0"/>
              <a:t> üzerinde gösterir.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AD30C5-BB4E-464C-AAC6-3E9B9FAC38A3}"/>
              </a:ext>
            </a:extLst>
          </p:cNvPr>
          <p:cNvSpPr/>
          <p:nvPr/>
        </p:nvSpPr>
        <p:spPr>
          <a:xfrm>
            <a:off x="437395" y="3942405"/>
            <a:ext cx="2239694" cy="22795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9E90740E-A14B-471A-8510-99207F55464E}"/>
              </a:ext>
            </a:extLst>
          </p:cNvPr>
          <p:cNvCxnSpPr>
            <a:cxnSpLocks/>
            <a:stCxn id="4" idx="2"/>
            <a:endCxn id="17" idx="3"/>
          </p:cNvCxnSpPr>
          <p:nvPr/>
        </p:nvCxnSpPr>
        <p:spPr>
          <a:xfrm flipH="1">
            <a:off x="2677089" y="4417615"/>
            <a:ext cx="3668139" cy="664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18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6620555A-3C17-485F-8ACB-67FDC49D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264" y="2632155"/>
            <a:ext cx="6286100" cy="2885243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ARA YÜZ İNCELEME (</a:t>
            </a:r>
            <a:r>
              <a:rPr lang="tr-TR" dirty="0" err="1"/>
              <a:t>JSeparator</a:t>
            </a:r>
            <a:r>
              <a:rPr lang="tr-TR" dirty="0"/>
              <a:t>)</a:t>
            </a:r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585B4891-76FF-4E1E-AF2C-F424BC08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3485"/>
            <a:ext cx="11067327" cy="954657"/>
          </a:xfrm>
        </p:spPr>
        <p:txBody>
          <a:bodyPr>
            <a:normAutofit/>
          </a:bodyPr>
          <a:lstStyle/>
          <a:p>
            <a:r>
              <a:rPr lang="tr-TR" dirty="0"/>
              <a:t>Projede 1 adet </a:t>
            </a:r>
            <a:r>
              <a:rPr lang="tr-TR" dirty="0" err="1"/>
              <a:t>JSeparator</a:t>
            </a:r>
            <a:r>
              <a:rPr lang="tr-TR" dirty="0"/>
              <a:t> kullanılmıştır. </a:t>
            </a: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3A295CE-8C25-45CB-A532-2F5EEF100AB5}"/>
              </a:ext>
            </a:extLst>
          </p:cNvPr>
          <p:cNvSpPr/>
          <p:nvPr/>
        </p:nvSpPr>
        <p:spPr>
          <a:xfrm>
            <a:off x="4252264" y="5067776"/>
            <a:ext cx="6286100" cy="1652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FB9ADC5-E3B6-439D-AFF9-F72DE7C134D7}"/>
              </a:ext>
            </a:extLst>
          </p:cNvPr>
          <p:cNvSpPr txBox="1"/>
          <p:nvPr/>
        </p:nvSpPr>
        <p:spPr>
          <a:xfrm>
            <a:off x="1374188" y="2988920"/>
            <a:ext cx="22396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Amacı tamamen estetik olan ve bilgi vermeyi sağlayan </a:t>
            </a:r>
            <a:r>
              <a:rPr lang="tr-TR" dirty="0" err="1"/>
              <a:t>JTextField</a:t>
            </a:r>
            <a:r>
              <a:rPr lang="tr-TR" dirty="0"/>
              <a:t> öğesini diğer öğelerden ayırmak.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2AD30C5-BB4E-464C-AAC6-3E9B9FAC38A3}"/>
              </a:ext>
            </a:extLst>
          </p:cNvPr>
          <p:cNvSpPr/>
          <p:nvPr/>
        </p:nvSpPr>
        <p:spPr>
          <a:xfrm>
            <a:off x="1373853" y="2994489"/>
            <a:ext cx="1955273" cy="174875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24" name="Düz Ok Bağlayıcısı 23">
            <a:extLst>
              <a:ext uri="{FF2B5EF4-FFF2-40B4-BE49-F238E27FC236}">
                <a16:creationId xmlns:a16="http://schemas.microsoft.com/office/drawing/2014/main" id="{9E90740E-A14B-471A-8510-99207F55464E}"/>
              </a:ext>
            </a:extLst>
          </p:cNvPr>
          <p:cNvCxnSpPr>
            <a:cxnSpLocks/>
            <a:stCxn id="4" idx="1"/>
            <a:endCxn id="17" idx="3"/>
          </p:cNvCxnSpPr>
          <p:nvPr/>
        </p:nvCxnSpPr>
        <p:spPr>
          <a:xfrm flipH="1" flipV="1">
            <a:off x="3329126" y="3868868"/>
            <a:ext cx="923138" cy="12815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216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DÖNÜŞÜM ÖRNEĞİ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479DC71-96B2-495B-ABA4-D365C720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310" y="1825625"/>
            <a:ext cx="5448300" cy="2495550"/>
          </a:xfrm>
          <a:prstGeom prst="rect">
            <a:avLst/>
          </a:prstGeom>
        </p:spPr>
      </p:pic>
      <p:sp>
        <p:nvSpPr>
          <p:cNvPr id="8" name="İçerik Yer Tutucusu 7">
            <a:extLst>
              <a:ext uri="{FF2B5EF4-FFF2-40B4-BE49-F238E27FC236}">
                <a16:creationId xmlns:a16="http://schemas.microsoft.com/office/drawing/2014/main" id="{B704B51A-6736-4F7D-A91C-6432E2BAA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9423" cy="2630965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Programda metin alanına </a:t>
            </a:r>
            <a:r>
              <a:rPr lang="tr-TR" dirty="0" err="1"/>
              <a:t>Decimal</a:t>
            </a:r>
            <a:r>
              <a:rPr lang="tr-TR" dirty="0"/>
              <a:t> türünde sayısal bir değer yazıp «</a:t>
            </a:r>
            <a:r>
              <a:rPr lang="tr-TR" dirty="0" err="1"/>
              <a:t>Convert</a:t>
            </a:r>
            <a:r>
              <a:rPr lang="tr-TR" dirty="0"/>
              <a:t>» tuşuna bastığımızda, o sayısal değerin </a:t>
            </a:r>
            <a:r>
              <a:rPr lang="tr-TR" dirty="0" err="1"/>
              <a:t>Binary</a:t>
            </a:r>
            <a:r>
              <a:rPr lang="tr-TR" dirty="0"/>
              <a:t> türünde değerini görüyoruz.</a:t>
            </a:r>
          </a:p>
        </p:txBody>
      </p:sp>
      <p:sp>
        <p:nvSpPr>
          <p:cNvPr id="15" name="İçerik Yer Tutucusu 7">
            <a:extLst>
              <a:ext uri="{FF2B5EF4-FFF2-40B4-BE49-F238E27FC236}">
                <a16:creationId xmlns:a16="http://schemas.microsoft.com/office/drawing/2014/main" id="{F49416D5-EDB9-4778-B572-9FB35C1DD8DD}"/>
              </a:ext>
            </a:extLst>
          </p:cNvPr>
          <p:cNvSpPr txBox="1">
            <a:spLocks/>
          </p:cNvSpPr>
          <p:nvPr/>
        </p:nvSpPr>
        <p:spPr>
          <a:xfrm>
            <a:off x="838199" y="4999731"/>
            <a:ext cx="10515599" cy="1493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tr-TR" dirty="0"/>
              <a:t>Peki bu tuşa basılınca programın arka planında neler oluyor ?</a:t>
            </a:r>
          </a:p>
        </p:txBody>
      </p:sp>
    </p:spTree>
    <p:extLst>
      <p:ext uri="{BB962C8B-B14F-4D97-AF65-F5344CB8AC3E}">
        <p14:creationId xmlns:p14="http://schemas.microsoft.com/office/powerpoint/2010/main" val="3751531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18FB28-FC33-4082-A151-AD2E2A30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CLASS DIAGRAM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EC142B2-8B9F-42E6-BAE3-4F1E7AE2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015" y="1376038"/>
            <a:ext cx="2825969" cy="530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2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778613B-4671-4E6D-8AFB-3240908F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00" y="1215986"/>
            <a:ext cx="8955414" cy="4248473"/>
          </a:xfrm>
          <a:prstGeom prst="rect">
            <a:avLst/>
          </a:prstGeom>
        </p:spPr>
      </p:pic>
      <p:sp>
        <p:nvSpPr>
          <p:cNvPr id="9" name="Sol Ayraç 8">
            <a:extLst>
              <a:ext uri="{FF2B5EF4-FFF2-40B4-BE49-F238E27FC236}">
                <a16:creationId xmlns:a16="http://schemas.microsoft.com/office/drawing/2014/main" id="{727B16F3-F6F0-4000-9901-0A0D87829731}"/>
              </a:ext>
            </a:extLst>
          </p:cNvPr>
          <p:cNvSpPr/>
          <p:nvPr/>
        </p:nvSpPr>
        <p:spPr>
          <a:xfrm>
            <a:off x="2947385" y="1606858"/>
            <a:ext cx="417251" cy="488272"/>
          </a:xfrm>
          <a:prstGeom prst="lef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301841" y="1500325"/>
            <a:ext cx="2506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Tuşa basıldığı an </a:t>
            </a:r>
            <a:r>
              <a:rPr lang="tr-TR" dirty="0" err="1"/>
              <a:t>JComboBox</a:t>
            </a:r>
            <a:r>
              <a:rPr lang="tr-TR" dirty="0"/>
              <a:t> öğelerindeki seçili değerler, </a:t>
            </a:r>
            <a:r>
              <a:rPr lang="tr-TR" dirty="0" err="1"/>
              <a:t>String</a:t>
            </a:r>
            <a:r>
              <a:rPr lang="tr-TR" dirty="0"/>
              <a:t> değişkenlerine atanır.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301840" y="1500325"/>
            <a:ext cx="2432481" cy="12003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4EE0E9B4-73F1-4B55-B618-E1D719548B04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2734321" y="1850994"/>
            <a:ext cx="213064" cy="24949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23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778613B-4671-4E6D-8AFB-3240908F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00" y="1215986"/>
            <a:ext cx="8955414" cy="4248473"/>
          </a:xfrm>
          <a:prstGeom prst="rect">
            <a:avLst/>
          </a:prstGeom>
        </p:spPr>
      </p:pic>
      <p:sp>
        <p:nvSpPr>
          <p:cNvPr id="9" name="Sol Ayraç 8">
            <a:extLst>
              <a:ext uri="{FF2B5EF4-FFF2-40B4-BE49-F238E27FC236}">
                <a16:creationId xmlns:a16="http://schemas.microsoft.com/office/drawing/2014/main" id="{727B16F3-F6F0-4000-9901-0A0D87829731}"/>
              </a:ext>
            </a:extLst>
          </p:cNvPr>
          <p:cNvSpPr/>
          <p:nvPr/>
        </p:nvSpPr>
        <p:spPr>
          <a:xfrm>
            <a:off x="2947385" y="2130640"/>
            <a:ext cx="452763" cy="248575"/>
          </a:xfrm>
          <a:prstGeom prst="lef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301841" y="1500325"/>
            <a:ext cx="2506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JComboBox</a:t>
            </a:r>
            <a:r>
              <a:rPr lang="tr-TR" dirty="0"/>
              <a:t> öğelerinden gelen değerleri karşılaştırarak hangi dönüşümün yapılacağın seçen ve </a:t>
            </a:r>
            <a:r>
              <a:rPr lang="tr-TR" dirty="0" err="1"/>
              <a:t>return</a:t>
            </a:r>
            <a:r>
              <a:rPr lang="tr-TR" dirty="0"/>
              <a:t> tipi </a:t>
            </a:r>
            <a:r>
              <a:rPr lang="tr-TR" dirty="0" err="1"/>
              <a:t>String</a:t>
            </a:r>
            <a:r>
              <a:rPr lang="tr-TR" dirty="0"/>
              <a:t> olan bir </a:t>
            </a:r>
            <a:r>
              <a:rPr lang="tr-TR" dirty="0" err="1"/>
              <a:t>metod</a:t>
            </a:r>
            <a:r>
              <a:rPr lang="tr-TR" dirty="0"/>
              <a:t>. 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301840" y="1500325"/>
            <a:ext cx="2432481" cy="17543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4EE0E9B4-73F1-4B55-B618-E1D719548B04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 flipV="1">
            <a:off x="2734321" y="2254928"/>
            <a:ext cx="213064" cy="1225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90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choosingOperation</a:t>
            </a:r>
            <a:r>
              <a:rPr lang="tr-TR" dirty="0"/>
              <a:t>()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1444502" y="2450236"/>
            <a:ext cx="25060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Örnek verecek olursak </a:t>
            </a:r>
            <a:r>
              <a:rPr lang="tr-TR" dirty="0" err="1"/>
              <a:t>Decimal</a:t>
            </a:r>
            <a:r>
              <a:rPr lang="tr-TR" dirty="0"/>
              <a:t> değerden </a:t>
            </a:r>
            <a:r>
              <a:rPr lang="tr-TR" dirty="0" err="1"/>
              <a:t>Binary</a:t>
            </a:r>
            <a:r>
              <a:rPr lang="tr-TR" dirty="0"/>
              <a:t> değere dönüşüm yapılacaksa </a:t>
            </a:r>
            <a:r>
              <a:rPr lang="tr-TR" dirty="0" err="1"/>
              <a:t>choosingOperation</a:t>
            </a:r>
            <a:r>
              <a:rPr lang="tr-TR" dirty="0"/>
              <a:t> metodunun </a:t>
            </a:r>
            <a:r>
              <a:rPr lang="tr-TR" dirty="0" err="1"/>
              <a:t>return</a:t>
            </a:r>
            <a:r>
              <a:rPr lang="tr-TR" dirty="0"/>
              <a:t> değeri </a:t>
            </a:r>
            <a:r>
              <a:rPr lang="tr-TR" dirty="0" err="1"/>
              <a:t>decimal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binary</a:t>
            </a:r>
            <a:r>
              <a:rPr lang="tr-TR" dirty="0"/>
              <a:t> kelimelerin baş </a:t>
            </a:r>
            <a:r>
              <a:rPr lang="tr-TR" dirty="0" err="1"/>
              <a:t>harflari</a:t>
            </a:r>
            <a:r>
              <a:rPr lang="tr-TR" dirty="0"/>
              <a:t> olan «</a:t>
            </a:r>
            <a:r>
              <a:rPr lang="tr-TR" dirty="0" err="1"/>
              <a:t>dtb</a:t>
            </a:r>
            <a:r>
              <a:rPr lang="tr-TR" dirty="0"/>
              <a:t>» olur.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1444501" y="2450236"/>
            <a:ext cx="2432481" cy="25853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AE3E23E-B679-47DA-B3A2-155BE6CC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545" y="1340527"/>
            <a:ext cx="5065452" cy="505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0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778613B-4671-4E6D-8AFB-3240908F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00" y="1215986"/>
            <a:ext cx="8955414" cy="4248473"/>
          </a:xfrm>
          <a:prstGeom prst="rect">
            <a:avLst/>
          </a:prstGeom>
        </p:spPr>
      </p:pic>
      <p:sp>
        <p:nvSpPr>
          <p:cNvPr id="9" name="Sol Ayraç 8">
            <a:extLst>
              <a:ext uri="{FF2B5EF4-FFF2-40B4-BE49-F238E27FC236}">
                <a16:creationId xmlns:a16="http://schemas.microsoft.com/office/drawing/2014/main" id="{727B16F3-F6F0-4000-9901-0A0D87829731}"/>
              </a:ext>
            </a:extLst>
          </p:cNvPr>
          <p:cNvSpPr/>
          <p:nvPr/>
        </p:nvSpPr>
        <p:spPr>
          <a:xfrm>
            <a:off x="2881479" y="2439870"/>
            <a:ext cx="499896" cy="1608255"/>
          </a:xfrm>
          <a:prstGeom prst="lef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154684" y="2920831"/>
            <a:ext cx="250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Dönüşüm sırasında kullanılacak değişkenler.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154683" y="2920832"/>
            <a:ext cx="2432481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4EE0E9B4-73F1-4B55-B618-E1D719548B04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2587164" y="3243998"/>
            <a:ext cx="29431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855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778613B-4671-4E6D-8AFB-3240908F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00" y="1215986"/>
            <a:ext cx="8955414" cy="4248473"/>
          </a:xfrm>
          <a:prstGeom prst="rect">
            <a:avLst/>
          </a:prstGeom>
        </p:spPr>
      </p:pic>
      <p:sp>
        <p:nvSpPr>
          <p:cNvPr id="9" name="Sol Ayraç 8">
            <a:extLst>
              <a:ext uri="{FF2B5EF4-FFF2-40B4-BE49-F238E27FC236}">
                <a16:creationId xmlns:a16="http://schemas.microsoft.com/office/drawing/2014/main" id="{727B16F3-F6F0-4000-9901-0A0D87829731}"/>
              </a:ext>
            </a:extLst>
          </p:cNvPr>
          <p:cNvSpPr/>
          <p:nvPr/>
        </p:nvSpPr>
        <p:spPr>
          <a:xfrm>
            <a:off x="2900529" y="4048554"/>
            <a:ext cx="499896" cy="1325563"/>
          </a:xfrm>
          <a:prstGeom prst="lef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154683" y="2920831"/>
            <a:ext cx="2506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Butona basıldığında birinci metin alanı boş ise ikinci metin alanını boşaltıp metodu bitiren bir kod bloğu.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154683" y="2920832"/>
            <a:ext cx="2432481" cy="14773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Bağlayıcı 12">
            <a:extLst>
              <a:ext uri="{FF2B5EF4-FFF2-40B4-BE49-F238E27FC236}">
                <a16:creationId xmlns:a16="http://schemas.microsoft.com/office/drawing/2014/main" id="{4EE0E9B4-73F1-4B55-B618-E1D719548B04}"/>
              </a:ext>
            </a:extLst>
          </p:cNvPr>
          <p:cNvCxnSpPr>
            <a:cxnSpLocks/>
            <a:stCxn id="12" idx="3"/>
            <a:endCxn id="9" idx="1"/>
          </p:cNvCxnSpPr>
          <p:nvPr/>
        </p:nvCxnSpPr>
        <p:spPr>
          <a:xfrm>
            <a:off x="2587164" y="3659496"/>
            <a:ext cx="313365" cy="105184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271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>
            <a:extLst>
              <a:ext uri="{FF2B5EF4-FFF2-40B4-BE49-F238E27FC236}">
                <a16:creationId xmlns:a16="http://schemas.microsoft.com/office/drawing/2014/main" id="{71EB5427-FC1F-4601-8B33-126C13730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27" y="1417998"/>
            <a:ext cx="8620125" cy="30397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440449" y="1690687"/>
            <a:ext cx="2506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Hangi işlemin yapılacağı seçilen </a:t>
            </a:r>
            <a:r>
              <a:rPr lang="tr-TR" dirty="0" err="1"/>
              <a:t>if</a:t>
            </a:r>
            <a:r>
              <a:rPr lang="tr-TR" dirty="0"/>
              <a:t> – else blokları.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440448" y="1690688"/>
            <a:ext cx="2432481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7688D32A-2B46-4B91-A0A8-776EE7BB737B}"/>
              </a:ext>
            </a:extLst>
          </p:cNvPr>
          <p:cNvCxnSpPr/>
          <p:nvPr/>
        </p:nvCxnSpPr>
        <p:spPr>
          <a:xfrm>
            <a:off x="3743325" y="1600200"/>
            <a:ext cx="17049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CC801062-FF47-4F39-BB5C-649041BB0C4C}"/>
              </a:ext>
            </a:extLst>
          </p:cNvPr>
          <p:cNvSpPr txBox="1"/>
          <p:nvPr/>
        </p:nvSpPr>
        <p:spPr>
          <a:xfrm>
            <a:off x="440449" y="2881774"/>
            <a:ext cx="2506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Bu kod bloğunda «</a:t>
            </a:r>
            <a:r>
              <a:rPr lang="tr-TR" dirty="0" err="1"/>
              <a:t>dtd</a:t>
            </a:r>
            <a:r>
              <a:rPr lang="tr-TR" dirty="0"/>
              <a:t>» yani </a:t>
            </a:r>
            <a:r>
              <a:rPr lang="tr-TR" dirty="0" err="1"/>
              <a:t>Decimal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Decimal</a:t>
            </a:r>
            <a:r>
              <a:rPr lang="tr-TR" dirty="0"/>
              <a:t> seçilmiş.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E703F48-F145-46A7-A1BB-A8133478FC5D}"/>
              </a:ext>
            </a:extLst>
          </p:cNvPr>
          <p:cNvSpPr/>
          <p:nvPr/>
        </p:nvSpPr>
        <p:spPr>
          <a:xfrm>
            <a:off x="440448" y="2881775"/>
            <a:ext cx="2432481" cy="9233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F71C5791-BFC8-4C43-AA25-C051FA77161E}"/>
              </a:ext>
            </a:extLst>
          </p:cNvPr>
          <p:cNvSpPr txBox="1"/>
          <p:nvPr/>
        </p:nvSpPr>
        <p:spPr>
          <a:xfrm>
            <a:off x="440449" y="4276207"/>
            <a:ext cx="25060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Program, birinci metin alanından alınan değeri </a:t>
            </a:r>
            <a:r>
              <a:rPr lang="tr-TR" dirty="0" err="1"/>
              <a:t>try-catch</a:t>
            </a:r>
            <a:r>
              <a:rPr lang="tr-TR" dirty="0"/>
              <a:t> içerisinde sayısal bir değere dönüştürmeye çalışırken hata alırsa ekrana uyarı mesajı veriyor.</a:t>
            </a:r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A67B94FD-B269-416D-86C1-7230BF8F2914}"/>
              </a:ext>
            </a:extLst>
          </p:cNvPr>
          <p:cNvSpPr/>
          <p:nvPr/>
        </p:nvSpPr>
        <p:spPr>
          <a:xfrm>
            <a:off x="440448" y="4276208"/>
            <a:ext cx="2432481" cy="20313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AF1FF523-1FD5-4217-9E7B-F8D0074E05D1}"/>
              </a:ext>
            </a:extLst>
          </p:cNvPr>
          <p:cNvCxnSpPr/>
          <p:nvPr/>
        </p:nvCxnSpPr>
        <p:spPr>
          <a:xfrm>
            <a:off x="4048217" y="3355759"/>
            <a:ext cx="76170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Bağlayıcı 34">
            <a:extLst>
              <a:ext uri="{FF2B5EF4-FFF2-40B4-BE49-F238E27FC236}">
                <a16:creationId xmlns:a16="http://schemas.microsoft.com/office/drawing/2014/main" id="{56B8A593-8C78-4159-8F4D-8CCC18F24AD0}"/>
              </a:ext>
            </a:extLst>
          </p:cNvPr>
          <p:cNvCxnSpPr>
            <a:cxnSpLocks/>
          </p:cNvCxnSpPr>
          <p:nvPr/>
        </p:nvCxnSpPr>
        <p:spPr>
          <a:xfrm>
            <a:off x="2872929" y="5291869"/>
            <a:ext cx="5134729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>
            <a:extLst>
              <a:ext uri="{FF2B5EF4-FFF2-40B4-BE49-F238E27FC236}">
                <a16:creationId xmlns:a16="http://schemas.microsoft.com/office/drawing/2014/main" id="{FA09BE9E-6251-43E8-9F3B-E7F6DBD0F494}"/>
              </a:ext>
            </a:extLst>
          </p:cNvPr>
          <p:cNvCxnSpPr/>
          <p:nvPr/>
        </p:nvCxnSpPr>
        <p:spPr>
          <a:xfrm flipV="1">
            <a:off x="8007658" y="3355759"/>
            <a:ext cx="0" cy="19361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74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UYARI MESAJI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CC801062-FF47-4F39-BB5C-649041BB0C4C}"/>
              </a:ext>
            </a:extLst>
          </p:cNvPr>
          <p:cNvSpPr txBox="1"/>
          <p:nvPr/>
        </p:nvSpPr>
        <p:spPr>
          <a:xfrm>
            <a:off x="1479628" y="2029518"/>
            <a:ext cx="2506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Decimal</a:t>
            </a:r>
            <a:r>
              <a:rPr lang="tr-TR" dirty="0"/>
              <a:t> olarak </a:t>
            </a:r>
            <a:r>
              <a:rPr lang="tr-TR" dirty="0" err="1"/>
              <a:t>abc</a:t>
            </a:r>
            <a:r>
              <a:rPr lang="tr-TR" dirty="0"/>
              <a:t> değer verilmiş ancak bu değer sayısal bir değer değil.</a:t>
            </a: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E703F48-F145-46A7-A1BB-A8133478FC5D}"/>
              </a:ext>
            </a:extLst>
          </p:cNvPr>
          <p:cNvSpPr/>
          <p:nvPr/>
        </p:nvSpPr>
        <p:spPr>
          <a:xfrm>
            <a:off x="1479627" y="2029519"/>
            <a:ext cx="2432481" cy="1200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34FA69D-8F07-451D-A513-6708BB15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12" y="1391113"/>
            <a:ext cx="5448300" cy="249555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249CB82-7F43-4130-BD74-BFF773718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509" y="4970563"/>
            <a:ext cx="2514600" cy="1438275"/>
          </a:xfrm>
          <a:prstGeom prst="rect">
            <a:avLst/>
          </a:prstGeom>
        </p:spPr>
      </p:pic>
      <p:sp>
        <p:nvSpPr>
          <p:cNvPr id="24" name="Metin kutusu 23">
            <a:extLst>
              <a:ext uri="{FF2B5EF4-FFF2-40B4-BE49-F238E27FC236}">
                <a16:creationId xmlns:a16="http://schemas.microsoft.com/office/drawing/2014/main" id="{C255F6CE-3E22-4A25-A57D-D7963134DBE0}"/>
              </a:ext>
            </a:extLst>
          </p:cNvPr>
          <p:cNvSpPr txBox="1"/>
          <p:nvPr/>
        </p:nvSpPr>
        <p:spPr>
          <a:xfrm>
            <a:off x="1500699" y="4758846"/>
            <a:ext cx="2506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Convert</a:t>
            </a:r>
            <a:r>
              <a:rPr lang="tr-TR" dirty="0"/>
              <a:t> butonuna basıldığında program sağ taraftaki uyarı mesajını verir.</a:t>
            </a: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0CFCDD10-C271-42F9-9000-F0650F4A4222}"/>
              </a:ext>
            </a:extLst>
          </p:cNvPr>
          <p:cNvSpPr/>
          <p:nvPr/>
        </p:nvSpPr>
        <p:spPr>
          <a:xfrm>
            <a:off x="1500698" y="4758847"/>
            <a:ext cx="2432481" cy="1200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F15B2C41-788E-4BB5-9446-0CF6E67B0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399" y="4692932"/>
            <a:ext cx="778192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27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>
            <a:extLst>
              <a:ext uri="{FF2B5EF4-FFF2-40B4-BE49-F238E27FC236}">
                <a16:creationId xmlns:a16="http://schemas.microsoft.com/office/drawing/2014/main" id="{71EB5427-FC1F-4601-8B33-126C13730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27" y="1417998"/>
            <a:ext cx="8620125" cy="3039701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440449" y="1690687"/>
            <a:ext cx="2506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Hata vermez ise her dönüşüm için tanımlanmış metot devreye girer.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440448" y="1690688"/>
            <a:ext cx="2432481" cy="1200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AF1FF523-1FD5-4217-9E7B-F8D0074E05D1}"/>
              </a:ext>
            </a:extLst>
          </p:cNvPr>
          <p:cNvCxnSpPr>
            <a:cxnSpLocks/>
          </p:cNvCxnSpPr>
          <p:nvPr/>
        </p:nvCxnSpPr>
        <p:spPr>
          <a:xfrm>
            <a:off x="3736759" y="4030461"/>
            <a:ext cx="36139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Bağlayıcı 34">
            <a:extLst>
              <a:ext uri="{FF2B5EF4-FFF2-40B4-BE49-F238E27FC236}">
                <a16:creationId xmlns:a16="http://schemas.microsoft.com/office/drawing/2014/main" id="{56B8A593-8C78-4159-8F4D-8CCC18F24AD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656689" y="2891016"/>
            <a:ext cx="0" cy="104179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>
            <a:extLst>
              <a:ext uri="{FF2B5EF4-FFF2-40B4-BE49-F238E27FC236}">
                <a16:creationId xmlns:a16="http://schemas.microsoft.com/office/drawing/2014/main" id="{FA09BE9E-6251-43E8-9F3B-E7F6DBD0F494}"/>
              </a:ext>
            </a:extLst>
          </p:cNvPr>
          <p:cNvCxnSpPr>
            <a:cxnSpLocks/>
          </p:cNvCxnSpPr>
          <p:nvPr/>
        </p:nvCxnSpPr>
        <p:spPr>
          <a:xfrm>
            <a:off x="1656688" y="3932808"/>
            <a:ext cx="2000912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Bağlayıcı 26">
            <a:extLst>
              <a:ext uri="{FF2B5EF4-FFF2-40B4-BE49-F238E27FC236}">
                <a16:creationId xmlns:a16="http://schemas.microsoft.com/office/drawing/2014/main" id="{725AA546-4320-42AD-A0C4-1909DDBE5253}"/>
              </a:ext>
            </a:extLst>
          </p:cNvPr>
          <p:cNvCxnSpPr>
            <a:cxnSpLocks/>
          </p:cNvCxnSpPr>
          <p:nvPr/>
        </p:nvCxnSpPr>
        <p:spPr>
          <a:xfrm>
            <a:off x="3736759" y="4218372"/>
            <a:ext cx="184729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AFB9B9FB-CF30-4EC9-92FF-457CF110A4F8}"/>
              </a:ext>
            </a:extLst>
          </p:cNvPr>
          <p:cNvSpPr txBox="1"/>
          <p:nvPr/>
        </p:nvSpPr>
        <p:spPr>
          <a:xfrm>
            <a:off x="1230700" y="5169906"/>
            <a:ext cx="2506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Metottan gelen </a:t>
            </a:r>
            <a:r>
              <a:rPr lang="tr-TR" dirty="0" err="1"/>
              <a:t>return</a:t>
            </a:r>
            <a:r>
              <a:rPr lang="tr-TR" dirty="0"/>
              <a:t> değeri ise ikinci metin alanında gösterilir.</a:t>
            </a:r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B062555C-5E6D-474C-92EB-CEE430A962AF}"/>
              </a:ext>
            </a:extLst>
          </p:cNvPr>
          <p:cNvSpPr/>
          <p:nvPr/>
        </p:nvSpPr>
        <p:spPr>
          <a:xfrm>
            <a:off x="1230699" y="5169907"/>
            <a:ext cx="2432481" cy="92332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31" name="Düz Bağlayıcı 30">
            <a:extLst>
              <a:ext uri="{FF2B5EF4-FFF2-40B4-BE49-F238E27FC236}">
                <a16:creationId xmlns:a16="http://schemas.microsoft.com/office/drawing/2014/main" id="{95BB4036-EAD4-4407-AF7D-0BFE1CBB0E33}"/>
              </a:ext>
            </a:extLst>
          </p:cNvPr>
          <p:cNvCxnSpPr>
            <a:cxnSpLocks/>
          </p:cNvCxnSpPr>
          <p:nvPr/>
        </p:nvCxnSpPr>
        <p:spPr>
          <a:xfrm flipH="1">
            <a:off x="3632021" y="5631572"/>
            <a:ext cx="10283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>
            <a:extLst>
              <a:ext uri="{FF2B5EF4-FFF2-40B4-BE49-F238E27FC236}">
                <a16:creationId xmlns:a16="http://schemas.microsoft.com/office/drawing/2014/main" id="{B68D91A3-62CB-415F-9E2C-6EC388F4FB1F}"/>
              </a:ext>
            </a:extLst>
          </p:cNvPr>
          <p:cNvCxnSpPr>
            <a:cxnSpLocks/>
          </p:cNvCxnSpPr>
          <p:nvPr/>
        </p:nvCxnSpPr>
        <p:spPr>
          <a:xfrm flipV="1">
            <a:off x="4660406" y="4218373"/>
            <a:ext cx="1" cy="14131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28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3F79EB3D-2216-40D2-9019-61DAE00C1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66" y="1530511"/>
            <a:ext cx="8029575" cy="866775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440449" y="1690687"/>
            <a:ext cx="25060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Binary</a:t>
            </a:r>
            <a:r>
              <a:rPr lang="tr-TR" dirty="0"/>
              <a:t> değerlerin diğer değerlere dönüşümünde girilen değerin </a:t>
            </a:r>
            <a:r>
              <a:rPr lang="tr-TR" dirty="0" err="1"/>
              <a:t>Binary</a:t>
            </a:r>
            <a:r>
              <a:rPr lang="tr-TR" dirty="0"/>
              <a:t> bir değer olup olmadığını kontrol eden bir metodun döndürdüğü </a:t>
            </a:r>
            <a:r>
              <a:rPr lang="tr-TR" dirty="0" err="1"/>
              <a:t>boolean</a:t>
            </a:r>
            <a:r>
              <a:rPr lang="tr-TR" dirty="0"/>
              <a:t> değere göre uyarı mesajı gönderen kod bloğu.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440448" y="1690687"/>
            <a:ext cx="2432481" cy="25853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817C3F3-06E5-40D3-824F-BCBA6DCF3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613" y="3429000"/>
            <a:ext cx="5457825" cy="249555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1ABE6B37-8A92-4FFC-84F8-149B5AD03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103" y="3927314"/>
            <a:ext cx="24860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01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440449" y="1690687"/>
            <a:ext cx="2506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Aynı şekilde girilen değerin </a:t>
            </a:r>
            <a:r>
              <a:rPr lang="tr-TR" dirty="0" err="1"/>
              <a:t>Octal</a:t>
            </a:r>
            <a:r>
              <a:rPr lang="tr-TR" dirty="0"/>
              <a:t> bir değer olup olmadığını kontrol edip uyarı mesajı gönderen bir kod bloğu.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440448" y="1690688"/>
            <a:ext cx="2432481" cy="1477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9B3A35DD-CE4E-4DC8-9B24-7A3D26B1A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21" y="1561480"/>
            <a:ext cx="8458200" cy="85725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F3F080C-2F0D-4932-8D37-5B20E1005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21" y="3615085"/>
            <a:ext cx="5457825" cy="249555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5F548FCD-3F4A-4956-8D87-17BE3003C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053" y="4001887"/>
            <a:ext cx="24955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46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365041" y="3429000"/>
            <a:ext cx="2455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Hexadecimal</a:t>
            </a:r>
            <a:r>
              <a:rPr lang="tr-TR" dirty="0"/>
              <a:t> değerler için bir hata mesajı.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365040" y="3429000"/>
            <a:ext cx="2432481" cy="6463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6CB7B1A-886E-428B-952B-77A717E31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06" y="2454167"/>
            <a:ext cx="5448300" cy="24669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22471D1-2915-4311-BFA1-0665A830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991" y="3102236"/>
            <a:ext cx="2800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78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CA29AB-8F14-471D-9E61-E7C148C63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ActionPerformed</a:t>
            </a:r>
            <a:r>
              <a:rPr lang="tr-TR" dirty="0"/>
              <a:t> METODU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8E1E313-8D77-4513-B55E-FA1BB67D8D03}"/>
              </a:ext>
            </a:extLst>
          </p:cNvPr>
          <p:cNvSpPr txBox="1"/>
          <p:nvPr/>
        </p:nvSpPr>
        <p:spPr>
          <a:xfrm>
            <a:off x="2308196" y="1911797"/>
            <a:ext cx="7004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Program, dönüşüm </a:t>
            </a:r>
            <a:r>
              <a:rPr lang="tr-TR" dirty="0" err="1"/>
              <a:t>Decimal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Decimal</a:t>
            </a:r>
            <a:r>
              <a:rPr lang="tr-TR" dirty="0"/>
              <a:t> olmadığı sürece girilen ondalık bir değerdeki virgülden sonrasını siler ve dönüşümü yeni değere göre yapar. Bu işlemi de ara yüzün alt kısmında bulunan </a:t>
            </a:r>
            <a:r>
              <a:rPr lang="tr-TR" dirty="0" err="1"/>
              <a:t>JLabel</a:t>
            </a:r>
            <a:r>
              <a:rPr lang="tr-TR" dirty="0"/>
              <a:t> öğesinde belirtir.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820B5E1-BE9A-4153-87F8-A2E76F9CE489}"/>
              </a:ext>
            </a:extLst>
          </p:cNvPr>
          <p:cNvSpPr/>
          <p:nvPr/>
        </p:nvSpPr>
        <p:spPr>
          <a:xfrm>
            <a:off x="2308196" y="1911797"/>
            <a:ext cx="7004480" cy="923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23D33D9-C6E0-47F2-B447-D01CE5ED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61" y="3578349"/>
            <a:ext cx="5438775" cy="2505075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927FF73C-8441-4F87-923C-83FA95504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064" y="3597399"/>
            <a:ext cx="54387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22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AC900B-7411-42DF-93B1-50DA3154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tr-TR" dirty="0"/>
              <a:t>Sunum bitmiştir.</a:t>
            </a:r>
            <a:br>
              <a:rPr lang="tr-TR" dirty="0"/>
            </a:br>
            <a:r>
              <a:rPr lang="tr-TR" dirty="0"/>
              <a:t>Dinlediğiniz için teşekkür ederim…</a:t>
            </a:r>
          </a:p>
        </p:txBody>
      </p:sp>
    </p:spTree>
    <p:extLst>
      <p:ext uri="{BB962C8B-B14F-4D97-AF65-F5344CB8AC3E}">
        <p14:creationId xmlns:p14="http://schemas.microsoft.com/office/powerpoint/2010/main" val="125384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609</Words>
  <Application>Microsoft Office PowerPoint</Application>
  <PresentationFormat>Geniş ekran</PresentationFormat>
  <Paragraphs>61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Teması</vt:lpstr>
      <vt:lpstr>PowerPoint Sunusu</vt:lpstr>
      <vt:lpstr>PROJENİN AMACI</vt:lpstr>
      <vt:lpstr>ARA YÜZ İNCELEME</vt:lpstr>
      <vt:lpstr>ARA YÜZ İNCELEME (JLabel)</vt:lpstr>
      <vt:lpstr>ARA YÜZ İNCELEME (JComboBox)</vt:lpstr>
      <vt:lpstr>ARA YÜZ İNCELEME (JTextField)</vt:lpstr>
      <vt:lpstr>ARA YÜZ İNCELEME (JButton)</vt:lpstr>
      <vt:lpstr>ARA YÜZ İNCELEME (JSeparator)</vt:lpstr>
      <vt:lpstr>DÖNÜŞÜM ÖRNEĞİ</vt:lpstr>
      <vt:lpstr>CLASS DIAGRAM</vt:lpstr>
      <vt:lpstr>ActionPerformed METODU</vt:lpstr>
      <vt:lpstr>ActionPerformed METODU</vt:lpstr>
      <vt:lpstr>choosingOperation() METODU</vt:lpstr>
      <vt:lpstr>ActionPerformed METODU</vt:lpstr>
      <vt:lpstr>ActionPerformed METODU</vt:lpstr>
      <vt:lpstr>ActionPerformed METODU</vt:lpstr>
      <vt:lpstr>UYARI MESAJI</vt:lpstr>
      <vt:lpstr>ActionPerformed METODU</vt:lpstr>
      <vt:lpstr>ActionPerformed METODU</vt:lpstr>
      <vt:lpstr>ActionPerformed METODU</vt:lpstr>
      <vt:lpstr>ActionPerformed METODU</vt:lpstr>
      <vt:lpstr>ActionPerformed METODU</vt:lpstr>
      <vt:lpstr>Sunum bitmiştir. Dinlediğiniz için teşekkür ederim…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Hilmi Güner</dc:creator>
  <cp:lastModifiedBy>Hilmi Güner</cp:lastModifiedBy>
  <cp:revision>3</cp:revision>
  <dcterms:created xsi:type="dcterms:W3CDTF">2021-12-26T18:46:48Z</dcterms:created>
  <dcterms:modified xsi:type="dcterms:W3CDTF">2021-12-28T18:39:22Z</dcterms:modified>
</cp:coreProperties>
</file>